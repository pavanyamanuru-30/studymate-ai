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a:spc="400">
                <a:solidFill>
                  <a:srgbClr val="787878"/>
                </a:solidFill>
                <a:latin typeface="Open Sauce Sans"/>
              </a:defRPr>
            </a:pPr>
            <a:r>
              <a:t>SHADOWFOX  AI  INTERNSHIP  •  BEGINNER  LEVEL 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141414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a:spc="500">
                <a:solidFill>
                  <a:srgbClr val="141414"/>
                </a:solidFill>
                <a:latin typeface="Open Sauce Sans"/>
              </a:defRPr>
            </a:pPr>
            <a:r>
              <a:t>LEARNING  •  ACTIVE  RECALL  • 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754880"/>
            <a:ext cx="1584655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a:spc="300">
                <a:solidFill>
                  <a:srgbClr val="787878"/>
                </a:solidFill>
                <a:latin typeface="Open Sauce Sans"/>
              </a:defRPr>
            </a:pPr>
            <a:r>
              <a:t>PAVAN KALYAN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a:spc="200">
                <a:solidFill>
                  <a:srgbClr val="787878"/>
                </a:solidFill>
                <a:latin typeface="Open Sauce Sans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3716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Acknowledgement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The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The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80644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Tech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69748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47472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3749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Challenges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425196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4526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  <a:latin typeface="Open Sauce Sans"/>
              </a:defRPr>
            </a:pPr>
            <a:r>
              <a:t>Conclusion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5029200"/>
            <a:ext cx="384048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Acknowledgement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27432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600">
                <a:solidFill>
                  <a:srgbClr val="141414"/>
                </a:solidFill>
                <a:latin typeface="Open Sauce Sans"/>
              </a:defRPr>
            </a:pPr>
            <a:r>
              <a:t>I would like to express my sincere gratitude to ShadowFox for providing this internship opportunity and for designing a structured, hands-on learning experience in AI development.</a:t>
            </a:r>
          </a:p>
          <a:p>
            <a:pPr>
              <a:spcAft>
                <a:spcPts val="2400"/>
              </a:spcAft>
              <a:defRPr sz="1600">
                <a:solidFill>
                  <a:srgbClr val="141414"/>
                </a:solidFill>
                <a:latin typeface="Open Sauce Sans"/>
              </a:defRPr>
            </a:pPr>
            <a:r>
              <a:t>I extend my thanks to my coordinator, Mr. Aakash, and the program team for their guidance and support throughout this internship.</a:t>
            </a:r>
          </a:p>
          <a:p>
            <a:pPr>
              <a:spcAft>
                <a:spcPts val="2400"/>
              </a:spcAft>
              <a:defRPr sz="1600">
                <a:solidFill>
                  <a:srgbClr val="141414"/>
                </a:solidFill>
                <a:latin typeface="Open Sauce Sans"/>
              </a:defRPr>
            </a:pPr>
            <a:r>
              <a:t>All tasks were completed independently by me, utilizing the Google Gemini API for the application's core AI functionalities.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Students face</a:t>
            </a:r>
            <a:br/>
            <a:r>
              <a:t>real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3716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Open Sauce Sans"/>
              </a:defRPr>
            </a:pPr>
            <a:r>
              <a:t>These are the problems we set out to solve.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9144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>
                <a:solidFill>
                  <a:srgbClr val="787878"/>
                </a:solidFill>
                <a:latin typeface="Open Sauce Sans"/>
              </a:rPr>
              <a:t>01    </a:t>
            </a:r>
            <a:r>
              <a:rPr sz="1500" b="1">
                <a:solidFill>
                  <a:srgbClr val="141414"/>
                </a:solidFill>
                <a:latin typeface="Open Sauce Sans"/>
              </a:rPr>
              <a:t>Information overload</a:t>
            </a:r>
            <a:r>
              <a:rPr sz="1400">
                <a:solidFill>
                  <a:srgbClr val="787878"/>
                </a:solidFill>
                <a:latin typeface="Open Sauce Sans"/>
              </a:rPr>
              <a:t>  —  Lengthy notes are difficult to condense into key takeaways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787878"/>
                </a:solidFill>
                <a:latin typeface="Open Sauce Sans"/>
              </a:rPr>
              <a:t>02    </a:t>
            </a:r>
            <a:r>
              <a:rPr sz="1500" b="1">
                <a:solidFill>
                  <a:srgbClr val="141414"/>
                </a:solidFill>
                <a:latin typeface="Open Sauce Sans"/>
              </a:rPr>
              <a:t>Passive learning</a:t>
            </a:r>
            <a:r>
              <a:rPr sz="1400">
                <a:solidFill>
                  <a:srgbClr val="787878"/>
                </a:solidFill>
                <a:latin typeface="Open Sauce Sans"/>
              </a:rPr>
              <a:t>  —  Re-reading doesn't actively test understanding or retention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787878"/>
                </a:solidFill>
                <a:latin typeface="Open Sauce Sans"/>
              </a:rPr>
              <a:t>03    </a:t>
            </a:r>
            <a:r>
              <a:rPr sz="1500" b="1">
                <a:solidFill>
                  <a:srgbClr val="141414"/>
                </a:solidFill>
                <a:latin typeface="Open Sauce Sans"/>
              </a:rPr>
              <a:t>Concept gaps</a:t>
            </a:r>
            <a:r>
              <a:rPr sz="1400">
                <a:solidFill>
                  <a:srgbClr val="787878"/>
                </a:solidFill>
                <a:latin typeface="Open Sauce Sans"/>
              </a:rPr>
              <a:t>  —  Textbook explanations are not always simple or intuitive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787878"/>
                </a:solidFill>
                <a:latin typeface="Open Sauce Sans"/>
              </a:rPr>
              <a:t>04    </a:t>
            </a:r>
            <a:r>
              <a:rPr sz="1500" b="1">
                <a:solidFill>
                  <a:srgbClr val="141414"/>
                </a:solidFill>
                <a:latin typeface="Open Sauce Sans"/>
              </a:rPr>
              <a:t>No feedback loop</a:t>
            </a:r>
            <a:r>
              <a:rPr sz="1400">
                <a:solidFill>
                  <a:srgbClr val="787878"/>
                </a:solidFill>
                <a:latin typeface="Open Sauce Sans"/>
              </a:rPr>
              <a:t>  —  Students lack tools to review and improve their written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The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3716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78"/>
                </a:solidFill>
                <a:latin typeface="Open Sauce Sans"/>
              </a:defRPr>
            </a:pPr>
            <a:r>
              <a:t>A single web application with four AI-powered study tools, built using Python and Google Gemini.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a:spc="400">
                <a:solidFill>
                  <a:srgbClr val="141414"/>
                </a:solidFill>
                <a:latin typeface="Open Sauce Sans"/>
              </a:defRPr>
            </a:pPr>
            <a:r>
              <a:t>SUMMARIZE   •   QUIZ   •   EXPLAIN   •   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141414"/>
                </a:solidFill>
                <a:latin typeface="Open Sauce Sans"/>
              </a:defRPr>
            </a:pPr>
            <a:r>
              <a:t>Students paste their notes or questions into one of four tabs. The application validates the input, wraps it in a carefully engineered prompt template, sends it to the Gemini API, and renders the AI's response as clean, downloadable markdown.</a:t>
            </a:r>
          </a:p>
          <a:p>
            <a:pPr>
              <a:spcAft>
                <a:spcPts val="2000"/>
              </a:spcAft>
              <a:defRPr sz="1500">
                <a:solidFill>
                  <a:srgbClr val="141414"/>
                </a:solidFill>
                <a:latin typeface="Open Sauce Sans"/>
              </a:defRPr>
            </a:pPr>
            <a:r>
              <a:t>The result is a focused tool that does four things well — not a chatbot, not a generic wrapper, but a purpose-built study assistant.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a:spc="300">
                <a:solidFill>
                  <a:srgbClr val="141414"/>
                </a:solidFill>
                <a:latin typeface="Open Sauce Sans"/>
              </a:defRPr>
            </a:pPr>
            <a:r>
              <a:t>NOTE SUMMARIZER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Paste lecture notes. Get a structured summary with key concepts, definitions, and bullet points. Downloadable as markdown.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a:spc="300">
                <a:solidFill>
                  <a:srgbClr val="141414"/>
                </a:solidFill>
                <a:latin typeface="Open Sauce Sans"/>
              </a:defRPr>
            </a:pPr>
            <a:r>
              <a:t>QUIZ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Convert notes into 3–10 multiple-choice questions. Each question has 4 options and an answer key with explanations.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a:spc="300">
                <a:solidFill>
                  <a:srgbClr val="141414"/>
                </a:solidFill>
                <a:latin typeface="Open Sauce Sans"/>
              </a:defRPr>
            </a:pPr>
            <a:r>
              <a:t>CONCEPT EXPLAINER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Enter any topic. Get a clear definition, a real-world analogy, a detailed breakdown, and key takeaways.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66359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03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a:spc="300">
                <a:solidFill>
                  <a:srgbClr val="141414"/>
                </a:solidFill>
                <a:latin typeface="Open Sauce Sans"/>
              </a:defRPr>
            </a:pPr>
            <a:r>
              <a:t>ANSWER IMPROVER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30351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Paste a rough answer. Optionally include the question for context. Get a polished version with improvement tips.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5216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64592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Open Sauce Sans"/>
              </a:defRPr>
            </a:pPr>
            <a:r>
              <a:t>What happens when a student clicks a button: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2D2D2"/>
                </a:solidFill>
                <a:latin typeface="Open Sauce San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a:spc="300">
                <a:solidFill>
                  <a:srgbClr val="141414"/>
                </a:solidFill>
                <a:latin typeface="Open Sauce San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Student enters text</a:t>
            </a:r>
            <a:br/>
            <a:r>
              <a:t>via Streamlit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D2D2"/>
                </a:solidFill>
                <a:latin typeface="Open Sauce San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2D2D2"/>
                </a:solidFill>
                <a:latin typeface="Open Sauce San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a:spc="300">
                <a:solidFill>
                  <a:srgbClr val="141414"/>
                </a:solidFill>
                <a:latin typeface="Open Sauce San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Reject empty or</a:t>
            </a:r>
            <a:br/>
            <a:r>
              <a:t>too-short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D2D2"/>
                </a:solidFill>
                <a:latin typeface="Open Sauce San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2D2D2"/>
                </a:solidFill>
                <a:latin typeface="Open Sauce San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a:spc="300">
                <a:solidFill>
                  <a:srgbClr val="141414"/>
                </a:solidFill>
                <a:latin typeface="Open Sauce Sans"/>
              </a:defRPr>
            </a:pPr>
            <a:r>
              <a:t>BUILD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Wrap text in a</a:t>
            </a:r>
            <a:br/>
            <a:r>
              <a:t>structured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D2D2"/>
                </a:solidFill>
                <a:latin typeface="Open Sauce San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2D2D2"/>
                </a:solidFill>
                <a:latin typeface="Open Sauce San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a:spc="300">
                <a:solidFill>
                  <a:srgbClr val="141414"/>
                </a:solidFill>
                <a:latin typeface="Open Sauce Sans"/>
              </a:defRPr>
            </a:pPr>
            <a:r>
              <a:t>CALL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Send to Google API</a:t>
            </a:r>
            <a:br/>
            <a:r>
              <a:t>with auto-retry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D2D2"/>
                </a:solidFill>
                <a:latin typeface="Open Sauce San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2D2D2"/>
                </a:solidFill>
                <a:latin typeface="Open Sauce San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a:spc="300">
                <a:solidFill>
                  <a:srgbClr val="141414"/>
                </a:solidFill>
                <a:latin typeface="Open Sauce Sans"/>
              </a:defRPr>
            </a:pPr>
            <a:r>
              <a:t>DISPLAY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Render markdown</a:t>
            </a:r>
            <a:br/>
            <a:r>
              <a:t>with copy +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a:spc="300">
                <a:solidFill>
                  <a:srgbClr val="141414"/>
                </a:solidFill>
                <a:latin typeface="Open Sauce Sans"/>
              </a:defRPr>
            </a:pPr>
            <a:r>
              <a:t>FILE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app.py  →  prompts/prompts.py  →  utils/llm.py  →  utils/validation.py  →  config.py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3716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84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Python 3.10+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UI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99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Google Gemini 2.0 Flash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API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google-genai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tenacity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70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370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python-dotenv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828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config.py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120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85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pytest + unittest.mock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6692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42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200">
                <a:solidFill>
                  <a:srgbClr val="787878"/>
                </a:solidFill>
                <a:latin typeface="Open Sauce Sans"/>
              </a:defRPr>
            </a:pPr>
            <a:r>
              <a:t>VERSION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742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Open Sauce Sans"/>
              </a:defRPr>
            </a:pPr>
            <a:r>
              <a:t>Git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126480"/>
            <a:ext cx="8229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9144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0">
                <a:solidFill>
                  <a:srgbClr val="141414"/>
                </a:solidFill>
                <a:latin typeface="Open Sauce Sans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a:spc="300">
                <a:solidFill>
                  <a:srgbClr val="141414"/>
                </a:solidFill>
                <a:latin typeface="Open Sauce Sans"/>
              </a:defRPr>
            </a:pPr>
            <a:r>
              <a:t>AUTOMATED 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a:spc="200">
                <a:solidFill>
                  <a:srgbClr val="787878"/>
                </a:solidFill>
                <a:latin typeface="Open Sauce Sans"/>
              </a:defRPr>
            </a:pPr>
            <a:r>
              <a:t>ALL PASSING  •  UNDER 1 SECOND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103120"/>
            <a:ext cx="54864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1414"/>
                </a:solidFill>
                <a:latin typeface="Open Sauce Sans"/>
              </a:defRPr>
            </a:pPr>
            <a:r>
              <a:t>test_validation.py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14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Empty inputs, whitespace, length boundaries, return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337560"/>
            <a:ext cx="54864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1414"/>
                </a:solidFill>
                <a:latin typeface="Open Sauce Sans"/>
              </a:defRPr>
            </a:pPr>
            <a:r>
              <a:t>test_prompts.py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23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All 4 prompt templates — content, format, instructions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526280"/>
            <a:ext cx="54864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1414"/>
                </a:solidFill>
                <a:latin typeface="Open Sauce Sans"/>
              </a:defRPr>
            </a:pPr>
            <a:r>
              <a:t>test_llm.py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7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16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API key validation, mocked Gemini calls, error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5715000"/>
            <a:ext cx="54864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Open Sauce Sans"/>
              </a:defRPr>
            </a:pPr>
            <a:r>
              <a:t>All tests use unittest.mock to simulate</a:t>
            </a:r>
            <a:br/>
            <a:r>
              <a:t>the Gemini API. No real API calls.</a:t>
            </a:r>
            <a:br/>
            <a:r>
              <a:t>No cost. Instant 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3716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a:spc="200">
                <a:solidFill>
                  <a:srgbClr val="141414"/>
                </a:solidFill>
                <a:latin typeface="Open Sauce Sans"/>
              </a:defRPr>
            </a:pPr>
            <a:r>
              <a:t>API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Google's servers occasionally returned transient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1414"/>
                </a:solidFill>
                <a:latin typeface="Open Sauce Sans"/>
              </a:defRPr>
            </a:pPr>
            <a:r>
              <a:t>Added tenacity for automatic retry — 2 attempts, 1 second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a:spc="200">
                <a:solidFill>
                  <a:srgbClr val="141414"/>
                </a:solidFill>
                <a:latin typeface="Open Sauce Sans"/>
              </a:defRPr>
            </a:pPr>
            <a:r>
              <a:t>DATA LOSS ON TAB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Streamlit re-runs the entire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1414"/>
                </a:solidFill>
                <a:latin typeface="Open Sauce Sans"/>
              </a:defRPr>
            </a:pPr>
            <a:r>
              <a:t>Stored results in st.session_state for persistence.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a:spc="200">
                <a:solidFill>
                  <a:srgbClr val="141414"/>
                </a:solidFill>
                <a:latin typeface="Open Sauce Sans"/>
              </a:defRPr>
            </a:pPr>
            <a:r>
              <a:t>INCONSISTENT AI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Without structure, the LLM returned unpredictable formats.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1414"/>
                </a:solidFill>
                <a:latin typeface="Open Sauce Sans"/>
              </a:defRPr>
            </a:pPr>
            <a:r>
              <a:t>Built strict prompt templates with persona, directives, and delimiters.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a:spc="200">
                <a:solidFill>
                  <a:srgbClr val="141414"/>
                </a:solidFill>
                <a:latin typeface="Open Sauce Sans"/>
              </a:defRPr>
            </a:pPr>
            <a:r>
              <a:t>DEPRECATED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Open Sauce Sans"/>
              </a:defRPr>
            </a:pPr>
            <a:r>
              <a:t>Google deprecated google-generativeai during development.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1414"/>
                </a:solidFill>
                <a:latin typeface="Open Sauce Sans"/>
              </a:defRPr>
            </a:pPr>
            <a:r>
              <a:t>Migrated to google-genai — only changed one file.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035040"/>
            <a:ext cx="10515600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a:spc="300">
                <a:solidFill>
                  <a:srgbClr val="787878"/>
                </a:solidFill>
                <a:latin typeface="Open Sauce Sans"/>
              </a:defRPr>
            </a:pPr>
            <a:r>
              <a:t>STUDYMATE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87878"/>
                </a:solidFill>
                <a:latin typeface="Open Sauce San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41414"/>
                </a:solidFill>
                <a:latin typeface="Open Sauce Sans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371600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141414"/>
                </a:solidFill>
                <a:latin typeface="Open Sauce Sans"/>
              </a:defRPr>
            </a:pPr>
            <a:r>
              <a:t>This internship gave me hands-on experience building a real AI application from scratch — not just calling an API, but architecting a complete product around it.</a:t>
            </a:r>
          </a:p>
          <a:p>
            <a:pPr>
              <a:spcAft>
                <a:spcPts val="2000"/>
              </a:spcAft>
              <a:defRPr sz="1500">
                <a:solidFill>
                  <a:srgbClr val="141414"/>
                </a:solidFill>
                <a:latin typeface="Open Sauce Sans"/>
              </a:defRPr>
            </a:pPr>
            <a:r>
              <a:t>StudyMate AI was developed into a fully working web application with four features, a polished UI, and comprehensive automated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a:spc="300">
                <a:solidFill>
                  <a:srgbClr val="141414"/>
                </a:solidFill>
                <a:latin typeface="Open Sauce Sans"/>
              </a:defRPr>
            </a:pPr>
            <a:r>
              <a:t>WHAT I DELIVERED BEYOND THE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787878"/>
                </a:solidFill>
                <a:latin typeface="Open Sauce Sans"/>
              </a:defRPr>
            </a:pPr>
            <a:r>
              <a:t>—   4 AI features (requirement was at least 1)</a:t>
            </a:r>
          </a:p>
          <a:p>
            <a:pPr>
              <a:spcAft>
                <a:spcPts val="800"/>
              </a:spcAft>
              <a:defRPr sz="1300">
                <a:solidFill>
                  <a:srgbClr val="787878"/>
                </a:solidFill>
                <a:latin typeface="Open Sauce Sans"/>
              </a:defRPr>
            </a:pPr>
            <a:r>
              <a:t>—   44 automated tests using pytest</a:t>
            </a:r>
          </a:p>
          <a:p>
            <a:pPr>
              <a:spcAft>
                <a:spcPts val="800"/>
              </a:spcAft>
              <a:defRPr sz="1300">
                <a:solidFill>
                  <a:srgbClr val="787878"/>
                </a:solidFill>
                <a:latin typeface="Open Sauce Sans"/>
              </a:defRPr>
            </a:pPr>
            <a:r>
              <a:t>—   Automatic API retry with tenacity</a:t>
            </a:r>
          </a:p>
          <a:p>
            <a:pPr>
              <a:spcAft>
                <a:spcPts val="800"/>
              </a:spcAft>
              <a:defRPr sz="1300">
                <a:solidFill>
                  <a:srgbClr val="787878"/>
                </a:solidFill>
                <a:latin typeface="Open Sauce Sans"/>
              </a:defRPr>
            </a:pPr>
            <a:r>
              <a:t>—   Session state so results persist across tabs</a:t>
            </a:r>
          </a:p>
          <a:p>
            <a:pPr>
              <a:spcAft>
                <a:spcPts val="800"/>
              </a:spcAft>
              <a:defRPr sz="1300">
                <a:solidFill>
                  <a:srgbClr val="787878"/>
                </a:solidFill>
                <a:latin typeface="Open Sauce Sans"/>
              </a:defRPr>
            </a:pPr>
            <a:r>
              <a:t>—   Copy-to-clipboard and download buttons</a:t>
            </a:r>
          </a:p>
          <a:p>
            <a:pPr>
              <a:spcAft>
                <a:spcPts val="800"/>
              </a:spcAft>
              <a:defRPr sz="1300">
                <a:solidFill>
                  <a:srgbClr val="787878"/>
                </a:solidFill>
                <a:latin typeface="Open Sauce Sans"/>
              </a:defRPr>
            </a:pPr>
            <a:r>
              <a:t>—   Custom dark-mode UI with CSS animations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141414"/>
                </a:solidFill>
                <a:latin typeface="Open Sauce San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3200400"/>
            <a:ext cx="1584655" cy="9525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a:spc="400">
                <a:solidFill>
                  <a:srgbClr val="787878"/>
                </a:solidFill>
                <a:latin typeface="Open Sauce Sans"/>
              </a:defRPr>
            </a:pPr>
            <a:r>
              <a:t>PAVAN  KALYAN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a:spc="300">
                <a:solidFill>
                  <a:srgbClr val="787878"/>
                </a:solidFill>
                <a:latin typeface="Open Sauce Sans"/>
              </a:defRPr>
            </a:pPr>
            <a:r>
              <a:t>SHADOWFOX  AI  INTERNSHIP  •  SEPTEMBER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