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a:spc="400">
                <a:solidFill>
                  <a:srgbClr val="787878"/>
                </a:solidFill>
                <a:latin typeface="Open Sauce Sans"/>
              </a:defRPr>
            </a:pPr>
            <a:r>
              <a:t>SHADOWFOX  AI  INTERNSHIP  •  BEGINNER  +  INTERMEDIATE  +  ADVANCED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141414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500">
                <a:solidFill>
                  <a:srgbClr val="141414"/>
                </a:solidFill>
                <a:latin typeface="Open Sauce Sans"/>
              </a:defRPr>
            </a:pPr>
            <a:r>
              <a:t>LEARNING  •  ACTIVE  RECALL  • 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0" y="4754880"/>
            <a:ext cx="1584655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a:spc="300">
                <a:solidFill>
                  <a:srgbClr val="787878"/>
                </a:solidFill>
                <a:latin typeface="Open Sauce Sans"/>
              </a:defRPr>
            </a:pPr>
            <a:r>
              <a:t>PAVAN KALYAN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a:spc="200">
                <a:solidFill>
                  <a:srgbClr val="787878"/>
                </a:solidFill>
                <a:latin typeface="Open Sauce Sans"/>
              </a:defRPr>
            </a:pPr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3716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Acknowledgement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The Problem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10128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1129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112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The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68496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696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696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Beginner 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626864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2803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280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Intermediate: RAG Pipeline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285232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8639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39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Advanced: Microservices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943599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21945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Full Architecture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651760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285292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Tech Stack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3310128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351129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5112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3968496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41696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1696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Challenges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720" y="4626864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0" y="482803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8280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1414"/>
                </a:solidFill>
                <a:latin typeface="Open Sauce Sans"/>
              </a:defRPr>
            </a:pPr>
            <a:r>
              <a:t>Conclusion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5285232"/>
            <a:ext cx="438912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Acknowledgement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27432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600">
                <a:solidFill>
                  <a:srgbClr val="141414"/>
                </a:solidFill>
                <a:latin typeface="Open Sauce Sans"/>
              </a:defRPr>
            </a:pPr>
            <a:r>
              <a:t>I would like to express my sincere gratitude to ShadowFox for providing this internship opportunity and for designing a structured, hands-on learning experience in AI development.</a:t>
            </a:r>
          </a:p>
          <a:p>
            <a:pPr>
              <a:spcAft>
                <a:spcPts val="2400"/>
              </a:spcAft>
              <a:defRPr sz="1600">
                <a:solidFill>
                  <a:srgbClr val="141414"/>
                </a:solidFill>
                <a:latin typeface="Open Sauce Sans"/>
              </a:defRPr>
            </a:pPr>
            <a:r>
              <a:t>I extend my thanks to my coordinator, Mr. Aakash, and the program team for their guidance and support throughout this internship.</a:t>
            </a:r>
          </a:p>
          <a:p>
            <a:pPr>
              <a:spcAft>
                <a:spcPts val="2400"/>
              </a:spcAft>
              <a:defRPr sz="1600">
                <a:solidFill>
                  <a:srgbClr val="141414"/>
                </a:solidFill>
                <a:latin typeface="Open Sauce Sans"/>
              </a:defRPr>
            </a:pPr>
            <a:r>
              <a:t>All tasks were completed independently by me across all three levels (Beginner, Intermediate, and Advanced), utilizing the Google Gemini API and modern Python frameworks.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Students face</a:t>
            </a:r>
            <a:br/>
            <a:r>
              <a:t>real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13716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Open Sauce Sans"/>
              </a:defRPr>
            </a:pPr>
            <a:r>
              <a:t>These are the problems we set out to solve.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9144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500">
                <a:solidFill>
                  <a:srgbClr val="787878"/>
                </a:solidFill>
                <a:latin typeface="Open Sauce Sans"/>
              </a:rPr>
              <a:t>01    </a:t>
            </a:r>
            <a:r>
              <a:rPr sz="1500" b="1">
                <a:solidFill>
                  <a:srgbClr val="141414"/>
                </a:solidFill>
                <a:latin typeface="Open Sauce Sans"/>
              </a:rPr>
              <a:t>Information overload</a:t>
            </a:r>
            <a:r>
              <a:rPr sz="1400">
                <a:solidFill>
                  <a:srgbClr val="787878"/>
                </a:solidFill>
                <a:latin typeface="Open Sauce Sans"/>
              </a:rPr>
              <a:t>  —  Lengthy notes are difficult to condense into key takeaways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787878"/>
                </a:solidFill>
                <a:latin typeface="Open Sauce Sans"/>
              </a:rPr>
              <a:t>02    </a:t>
            </a:r>
            <a:r>
              <a:rPr sz="1500" b="1">
                <a:solidFill>
                  <a:srgbClr val="141414"/>
                </a:solidFill>
                <a:latin typeface="Open Sauce Sans"/>
              </a:rPr>
              <a:t>Passive learning</a:t>
            </a:r>
            <a:r>
              <a:rPr sz="1400">
                <a:solidFill>
                  <a:srgbClr val="787878"/>
                </a:solidFill>
                <a:latin typeface="Open Sauce Sans"/>
              </a:rPr>
              <a:t>  —  Re-reading doesn't actively test understanding or retention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787878"/>
                </a:solidFill>
                <a:latin typeface="Open Sauce Sans"/>
              </a:rPr>
              <a:t>03    </a:t>
            </a:r>
            <a:r>
              <a:rPr sz="1500" b="1">
                <a:solidFill>
                  <a:srgbClr val="141414"/>
                </a:solidFill>
                <a:latin typeface="Open Sauce Sans"/>
              </a:rPr>
              <a:t>No document intelligence</a:t>
            </a:r>
            <a:r>
              <a:rPr sz="1400">
                <a:solidFill>
                  <a:srgbClr val="787878"/>
                </a:solidFill>
                <a:latin typeface="Open Sauce Sans"/>
              </a:rPr>
              <a:t>  —  Students can't ask questions directly about their own PDFs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787878"/>
                </a:solidFill>
                <a:latin typeface="Open Sauce Sans"/>
              </a:rPr>
              <a:t>04    </a:t>
            </a:r>
            <a:r>
              <a:rPr sz="1500" b="1">
                <a:solidFill>
                  <a:srgbClr val="141414"/>
                </a:solidFill>
                <a:latin typeface="Open Sauce Sans"/>
              </a:rPr>
              <a:t>No production architecture</a:t>
            </a:r>
            <a:r>
              <a:rPr sz="1400">
                <a:solidFill>
                  <a:srgbClr val="787878"/>
                </a:solidFill>
                <a:latin typeface="Open Sauce Sans"/>
              </a:rPr>
              <a:t>  —  Most AI tools are fragile scripts, not scalable systems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The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3716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78"/>
                </a:solidFill>
                <a:latin typeface="Open Sauce Sans"/>
              </a:defRPr>
            </a:pPr>
            <a:r>
              <a:t>A production-grade AI web application with five tools, a separated frontend and backend, and an agentic RAG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a:spc="400">
                <a:solidFill>
                  <a:srgbClr val="141414"/>
                </a:solidFill>
                <a:latin typeface="Open Sauce Sans"/>
              </a:defRPr>
            </a:pPr>
            <a:r>
              <a:t>SUMMARIZE   •   QUIZ   •   EXPLAIN   •   IMPROVE   •   DOC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141414"/>
                </a:solidFill>
                <a:latin typeface="Open Sauce Sans"/>
              </a:defRPr>
            </a:pPr>
            <a:r>
              <a:t>Students can paste notes, generate quizzes, get explanations, improve answers, or upload entire PDFs and ask questions about them. The AI answers strictly from the document content, preventing hallucination.</a:t>
            </a:r>
          </a:p>
          <a:p>
            <a:pPr>
              <a:spcAft>
                <a:spcPts val="2000"/>
              </a:spcAft>
              <a:defRPr sz="1500">
                <a:solidFill>
                  <a:srgbClr val="141414"/>
                </a:solidFill>
                <a:latin typeface="Open Sauce Sans"/>
              </a:defRPr>
            </a:pPr>
            <a:r>
              <a:t>The system is built as a true microservice: a Streamlit frontend talks to a FastAPI backend, which orchestrates a multi-step LangGraph agent to retrieve, verify, and generate grounded answers.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300">
                <a:solidFill>
                  <a:srgbClr val="787878"/>
                </a:solidFill>
                <a:latin typeface="Open Sauce Sans"/>
              </a:defRPr>
            </a:pPr>
            <a:r>
              <a:t>BEGINNER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Core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109728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a:spc="300">
                <a:solidFill>
                  <a:srgbClr val="141414"/>
                </a:solidFill>
                <a:latin typeface="Open Sauce Sans"/>
              </a:defRPr>
            </a:pPr>
            <a:r>
              <a:t>NOTE SUMMARIZER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488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Paste lecture notes. Get a structured summary with key concepts, definitions, and bullet points. Downloadable as markdown.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6324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a:spc="300">
                <a:solidFill>
                  <a:srgbClr val="141414"/>
                </a:solidFill>
                <a:latin typeface="Open Sauce Sans"/>
              </a:defRPr>
            </a:pPr>
            <a:r>
              <a:t>QUIZ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Convert notes into 3-10 multiple-choice questions. Each question has 4 options and an answer key with explanations.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a:spc="300">
                <a:solidFill>
                  <a:srgbClr val="141414"/>
                </a:solidFill>
                <a:latin typeface="Open Sauce Sans"/>
              </a:defRPr>
            </a:pPr>
            <a:r>
              <a:t>CONCEPT EXPLAINER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2519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Enter any topic. Get a clear definition, a real-world analogy, a detailed breakdown, and key takeaways.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166359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03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a:spc="300">
                <a:solidFill>
                  <a:srgbClr val="141414"/>
                </a:solidFill>
                <a:latin typeface="Open Sauce Sans"/>
              </a:defRPr>
            </a:pPr>
            <a:r>
              <a:t>ANSWER IMPROVER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303519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Paste a rough answer. Optionally include the question for context. Get a polished version with improvement tips.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300">
                <a:solidFill>
                  <a:srgbClr val="787878"/>
                </a:solidFill>
                <a:latin typeface="Open Sauce Sans"/>
              </a:defRPr>
            </a:pPr>
            <a:r>
              <a:t>INTERMEDIATE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Document Q&amp;A (RAG)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27432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87878"/>
                </a:solidFill>
                <a:latin typeface="Open Sauce Sans"/>
              </a:defRPr>
            </a:pPr>
            <a:r>
              <a:t>Retrieval-Augmented Generation — answering questions from uploaded documents.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2D2D2"/>
                </a:solidFill>
                <a:latin typeface="Open Sauce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UPLOAD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Student uploads</a:t>
            </a:r>
            <a:br/>
            <a:r>
              <a:t>a PDF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3832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2D2D2"/>
                </a:solidFill>
                <a:latin typeface="Open Sauce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8404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PyPDF2 reads all</a:t>
            </a:r>
            <a:br/>
            <a:r>
              <a:t>text from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3832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2D2D2"/>
                </a:solidFill>
                <a:latin typeface="Open Sauce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CHUNK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8404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Split into 1000-char</a:t>
            </a:r>
            <a:br/>
            <a:r>
              <a:t>overlapping segments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3832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2D2D2"/>
                </a:solidFill>
                <a:latin typeface="Open Sauce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EMBED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8404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Gemini Embedding</a:t>
            </a:r>
            <a:br/>
            <a:r>
              <a:t>converts to vectors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3832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2D2D2"/>
                </a:solidFill>
                <a:latin typeface="Open Sauce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8404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FAISS stores vectors</a:t>
            </a:r>
            <a:br/>
            <a:r>
              <a:t>for fast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120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When a student asks a question, the system embeds the query, searches the FAISS index for the top 3 most relevant chunks, and feeds them as context to the LLM. The AI answers strictly from the document — no hallucination.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300">
                <a:solidFill>
                  <a:srgbClr val="787878"/>
                </a:solidFill>
                <a:latin typeface="Open Sauce Sans"/>
              </a:defRPr>
            </a:pPr>
            <a:r>
              <a:t>ADVANCED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Microservices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2004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3657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Streamlit UI sends HTTP requests to the backend API. No AI logic lives in the frontend.</a:t>
            </a:r>
          </a:p>
          <a:p>
            <a:pPr>
              <a:spcAft>
                <a:spcPts val="16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Handles file upload, user input, and result rendering.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26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 HTTP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FASTAPI BACKEND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468880"/>
            <a:ext cx="50292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26517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Pydantic validates all requests. FastAPI routes them to the LangGraph agentic workflow.</a:t>
            </a:r>
          </a:p>
          <a:p>
            <a:pPr>
              <a:spcAft>
                <a:spcPts val="16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REST endpoints: /api/v1/upload and /api/v1/query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8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LANGGRAPH AGENTIC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REFINE 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Optimizes vague</a:t>
            </a:r>
            <a:br/>
            <a:r>
              <a:t>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212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Searches FAISS</a:t>
            </a:r>
            <a:br/>
            <a:r>
              <a:t>vector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GENERATE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212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Gemini answers</a:t>
            </a:r>
            <a:br/>
            <a:r>
              <a:t>from 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2D2D2"/>
                </a:solidFill>
                <a:latin typeface="Open Sauce Sans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CONFIDENCE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5212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Self-evaluates</a:t>
            </a:r>
            <a:br/>
            <a:r>
              <a:t>groundedness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a:spc="200">
                <a:solidFill>
                  <a:srgbClr val="787878"/>
                </a:solidFill>
                <a:latin typeface="Open Sauce Sans"/>
              </a:defRPr>
            </a:pPr>
            <a:r>
              <a:t>CONTAINERIZED  WITH  DOCKER  COMPOSE  •  ONE  COMMAND  DEPLOYMENT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Full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22860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a:spc="300">
                <a:solidFill>
                  <a:srgbClr val="141414"/>
                </a:solidFill>
                <a:latin typeface="Open Sauce Sans"/>
              </a:defRPr>
            </a:pPr>
            <a:r>
              <a:t>FILE 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408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app.py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40864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Streamlit frontend (UI + HTTP client)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70048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249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backend/main.py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72491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FastAPI app with CORS + health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54096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backend/routers/rag.py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089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REST endpoints: /upload, /query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438144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backend/models/schemas.py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49300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Pydantic request/response models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822192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770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backend/services/embedding.py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877056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PDF extraction + FAISS indexing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06240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backend/services/agent.py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261104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LangGraph multi-step RAG workflow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590288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docker-compose.yml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64515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Orchestrates frontend + backend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974336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config.py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029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Central configuration (no hardcoded values)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58384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413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prompts/prompts.py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41324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Structured prompt templates for all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742432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972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1414"/>
                </a:solidFill>
                <a:latin typeface="Open Sauce Sans"/>
              </a:defRPr>
            </a:pPr>
            <a:r>
              <a:t>tests/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797296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44 automated unit tests (pytest)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6126480"/>
            <a:ext cx="10058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Tech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3716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Python 3.10+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UI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Streamlit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65176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FastAPI + Uvicorn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01752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063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Pydantic v2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38328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AI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Google Gemini 3.6 Flash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74904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794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Gemini Embedding 2 (3072-dim)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11480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VECTOR 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160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FAISS (Facebook AI Similarity Search)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48056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526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AGENTIC FRAMEWORK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526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LangGraph (multi-step workflows)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84632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892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PDF PARSING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892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PyPDF2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21208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257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RESILIENCE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5257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tenacity (auto-retry)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57784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623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CONTAINERIZATION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Docker + Docker Compose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4360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989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200">
                <a:solidFill>
                  <a:srgbClr val="787878"/>
                </a:solidFill>
                <a:latin typeface="Open Sauce Sans"/>
              </a:defRPr>
            </a:pPr>
            <a: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989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pytest + unittest.mock (44 tests)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6309360"/>
            <a:ext cx="91440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9144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0">
                <a:solidFill>
                  <a:srgbClr val="141414"/>
                </a:solidFill>
                <a:latin typeface="Open Sauce Sans"/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300">
                <a:solidFill>
                  <a:srgbClr val="141414"/>
                </a:solidFill>
                <a:latin typeface="Open Sauce Sans"/>
              </a:defRPr>
            </a:pPr>
            <a:r>
              <a:t>AUTOMATED UNIT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a:spc="200">
                <a:solidFill>
                  <a:srgbClr val="787878"/>
                </a:solidFill>
                <a:latin typeface="Open Sauce Sans"/>
              </a:defRPr>
            </a:pPr>
            <a:r>
              <a:t>ALL PASSING  •  UNDER 1 SECOND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103120"/>
            <a:ext cx="5486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1414"/>
                </a:solidFill>
                <a:latin typeface="Open Sauce Sans"/>
              </a:defRPr>
            </a:pPr>
            <a:r>
              <a:t>test_validation.py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14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Empty inputs, whitespace, length boundaries, return 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3337560"/>
            <a:ext cx="5486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566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1414"/>
                </a:solidFill>
                <a:latin typeface="Open Sauce Sans"/>
              </a:defRPr>
            </a:pPr>
            <a:r>
              <a:t>test_prompts.py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23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977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All 4 prompt templates — content, format,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4526280"/>
            <a:ext cx="5486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1414"/>
                </a:solidFill>
                <a:latin typeface="Open Sauce Sans"/>
              </a:defRPr>
            </a:pPr>
            <a:r>
              <a:t>test_llm.py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754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7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16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API key validation, mocked Gemini calls, error handling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5715000"/>
            <a:ext cx="54864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720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Open Sauce Sans"/>
              </a:defRPr>
            </a:pPr>
            <a:r>
              <a:t>All tests use unittest.mock to simulate</a:t>
            </a:r>
            <a:br/>
            <a:r>
              <a:t>the Gemini API. No real API calls.</a:t>
            </a:r>
            <a:br/>
            <a:r>
              <a:t>No cost. Instant feedback.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3716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299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API FAILURES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29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Google's servers returned transient errors.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0299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Added tenacity for automatic retry.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761488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71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71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MODEL DEPRECATION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712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Google retired gemini-2.0-flash mid-project.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87121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Centralized config made migration a one-line fix.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02736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1246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EMBEDDING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1246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Silent failures when API was unreachable.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1246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Added explicit error surfacing and validation.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43984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5537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PORT CONFLICTS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5537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Windows blocked backend ports silently.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5537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Created start_app.bat for automated startup.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285232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94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a:spc="200">
                <a:solidFill>
                  <a:srgbClr val="141414"/>
                </a:solidFill>
                <a:latin typeface="Open Sauce Sans"/>
              </a:defRPr>
            </a:pPr>
            <a:r>
              <a:t>FRONTEND-BACKEND SYNC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878"/>
                </a:solidFill>
                <a:latin typeface="Open Sauce Sans"/>
              </a:defRPr>
            </a:pPr>
            <a:r>
              <a:t>Separating monolith into microservices.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1414"/>
                </a:solidFill>
                <a:latin typeface="Open Sauce Sans"/>
              </a:defRPr>
            </a:pPr>
            <a:r>
              <a:t>Used environment variables for flexible routing.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6126480"/>
            <a:ext cx="10515600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263640"/>
            <a:ext cx="10728655" cy="6350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55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a:spc="300">
                <a:solidFill>
                  <a:srgbClr val="787878"/>
                </a:solidFill>
                <a:latin typeface="Open Sauce Sans"/>
              </a:defRPr>
            </a:pPr>
            <a:r>
              <a:t>STUDYMATE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787878"/>
                </a:solidFill>
                <a:latin typeface="Open Sauce Sans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141414"/>
                </a:solidFill>
                <a:latin typeface="Open Sauce Sans"/>
              </a:defRPr>
            </a:pPr>
            <a: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371600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141414"/>
                </a:solidFill>
                <a:latin typeface="Open Sauce Sans"/>
              </a:defRPr>
            </a:pPr>
            <a:r>
              <a:t>This internship pushed me to build a real, production-grade AI application from scratch — not just calling an API, but designing a complete system around it.</a:t>
            </a:r>
          </a:p>
          <a:p>
            <a:pPr>
              <a:spcAft>
                <a:spcPts val="2000"/>
              </a:spcAft>
              <a:defRPr sz="1500">
                <a:solidFill>
                  <a:srgbClr val="141414"/>
                </a:solidFill>
                <a:latin typeface="Open Sauce Sans"/>
              </a:defRPr>
            </a:pPr>
            <a:r>
              <a:t>I completed all three levels: a polished study tool, a RAG pipeline for document intelligence, and a microservices architecture with an agentic AI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a:spc="300">
                <a:solidFill>
                  <a:srgbClr val="141414"/>
                </a:solidFill>
                <a:latin typeface="Open Sauce Sans"/>
              </a:defRPr>
            </a:pPr>
            <a:r>
              <a:t>WHAT I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5 AI-powered features (4 study tools + document Q&amp;A)</a:t>
            </a:r>
          </a:p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44 automated unit tests using pytest</a:t>
            </a:r>
          </a:p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FastAPI backend with Pydantic validation</a:t>
            </a:r>
          </a:p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LangGraph multi-step agentic RAG pipeline</a:t>
            </a:r>
          </a:p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FAISS vector database for semantic search</a:t>
            </a:r>
          </a:p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Docker Compose for one-command deployment</a:t>
            </a:r>
          </a:p>
          <a:p>
            <a:pPr>
              <a:spcAft>
                <a:spcPts val="800"/>
              </a:spcAft>
              <a:defRPr sz="1300">
                <a:solidFill>
                  <a:srgbClr val="787878"/>
                </a:solidFill>
                <a:latin typeface="Open Sauce Sans"/>
              </a:defRPr>
            </a:pPr>
            <a:r>
              <a:t>—   Custom dark-mode UI with CSS animations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141414"/>
                </a:solidFill>
                <a:latin typeface="Open Sauce Sans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0" y="3200400"/>
            <a:ext cx="1584655" cy="9525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a:spc="400">
                <a:solidFill>
                  <a:srgbClr val="787878"/>
                </a:solidFill>
                <a:latin typeface="Open Sauce Sans"/>
              </a:defRPr>
            </a:pPr>
            <a:r>
              <a:t>PAVAN  KALYAN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a:spc="300">
                <a:solidFill>
                  <a:srgbClr val="787878"/>
                </a:solidFill>
                <a:latin typeface="Open Sauce Sans"/>
              </a:defRPr>
            </a:pPr>
            <a:r>
              <a:t>SHADOWFOX  AI  INTERNSHIP  •  SEPTEMBER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87878"/>
                </a:solidFill>
                <a:latin typeface="Open Sauce Sans"/>
              </a:defRPr>
            </a:pPr>
            <a:r>
              <a:t>github.com/Pavanyamanuru-30/studymate-ai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